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58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是[姓名]，今天我将为大家展示我的课程项目——校园二手交易小程序。这个项目基于微信云开发，旨在解决校园内二手物品交易的痛点，提供一个便捷、安全的交易平台。接下来，我将从项目背景、技术实现、UI设计等多个方面进行详细介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一下项目的背景和意义。相信在座的同学都有过这样的经历：毕业季或学期末，宿舍里堆积了大量不再需要的物品，扔了可惜，留着占地方。而传统的交易方式，如QQ群，信息刷屏快，找东西如同大海捞针。更重要的是，和陌生人交易缺乏安全感。我们的项目正是看到了这些痛点，并抓住了微信小程序和云开发带来的技术机会，旨在打造一个专属于校园的、便捷安全的二手交易平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这些问题，我们设计了六大核心功能模块。这张图展示了我们小程序的整体功能架构。从用户系统到商品浏览、管理，再到即时通讯和个人中心，覆盖了交易的全流程。对于买家来说，核心路径是浏览、搜索、联系；对于卖家，则是发布、管理和沟通。整个流程清晰、闭环，旨在提供流畅的用户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在技术选型上，我们采用了“原生小程序 + 微信云开发”的组合。前端使用小程序原生语言开发，确保了最佳的性能和用户体验。后端则完全基于微信云开发，包括云函数、云数据库和云存储。这样的架构选择，让我们可以专注于业务逻辑的实现，而无需关心服务器的搭建和维护，极大地提高了开发效率，也完全符合课程项目的要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这是我们小程序的页面路由设计。整个应用包含14个页面，通过底部的Tab Bar进行核心功能的导航。我们遵循了Apple和Material Design的设计规范，将Tab Bar的数量控制在4个，保证了界面的简洁和易用性。同时，所有页面都设计了清晰的跳转和返回逻辑，确保用户在使用过程中不会迷路。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库设计是后端的核心。我们设计了四张云数据库集合：用户、商品、收藏和消息。这张图展示了它们之间的关联关系。特别值得一提的是我们的安全设计：首先，通过精细的权限设置，确保用户只能访问自己的数据。其次，对于手机号等敏感信息，我们在云函数层面进行了脱敏处理，有效保护了用户的个人隐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云函数设计上，我们采用了BFF模式。特别是`getUserInfo`这个核心云函数，我们将11个相关的操作合并到了一起。这样做的好处是显而易见的：首先，它能显著减少云函数的冷启动次数，提升性能；其次，所有用户相关的逻辑都集中在一起，非常便于维护；最后，也简化了前端的调用方式。这体现了我们对性能优化和代码架构的深入思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本次项目的重点——UI设计体系。我们没有零散地设计每个页面，而是构建了一套完整的、由设计Token驱动的设计系统。从色彩、字体到间距、圆角，所有视觉元素都由CSS变量统一管理。这意味着什么呢？这意味着高度的视觉一致性，以及极高的维护效率。比如，当产品经理要求把主色调换成蓝色时，我只需要修改一行代码，整个App的颜色就全部更新了。这正是UI工程化的魅力所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首页的UI设计。大家可以看到，我们采用了经典的瀑布流布局来展示商品。在设计细节上，我们做了很多优化：比如，胶囊型的搜索栏、横向滚动的分类标签，以及清晰的价格信息层级。特别值得一提的是，我们通过设置图片的固定比例，避免了页面加载时的布局抖动，同时加入了骨架屏，让等待过程不再枯燥。这些细节共同构成了流畅的用户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商品发布和详情页是交易流程中的关键环节。在发布页，我们注重表单的易用性，比如多图上传、即时校验等。在详情页，我们通过信息卡片和卖家卡片，清晰地展示了所有必要信息，帮助买家做出决策。同时，我们还实现了页面复用，让新建和编辑功能共享同一套UI，减少了代码冗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个人中心和聊天功能是提升用户粘性的重要部分。在个人中心，我们充分利用了微信的原生组件，保证了操作的流畅性。在聊天功能上，我们不仅实现了基本的消息收发，还支持发送商品卡片，方便用户在沟通中快速分享商品。同时，通过乐观更新和防骚扰机制，保证了聊天体验的流畅和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提高开发效率和代码质量，我们全面采用了组件化开发。我们封装了6个公共组件，比如商品卡片、搜索栏等，其中商品卡片组件被7个不同的页面复用。同时，我们还抽象出4个工具模块，负责接口请求、工具函数、表单校验和缓存管理。这种工程化的做法，让我们的代码结构更清晰，大大减少了重复工作，最终实现了约4500行代码完成整个项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开发过程中，我们也遇到了不少挑战。比如，微信调整了登录策略，我们及时改用了新的原生组件；解决了TabBar页面传参的难题；还修复了一些布局和云函数部署的问题。这个过程不仅锻炼了我们的问题排查能力，也让我们对小程序的生命周期和运行机制有了更深刻的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我们的项目主要有四大亮点。首先是UI工程化，通过设计Token实现了高效的视觉管理。其次是安全设计，通过BFF模式和数据脱敏，保障了系统和用户的安全。第三是彻底的组件化，大幅提升了开发效率。最后是对行业规范的严格遵循，保证了产品的专业性和易用性。这些亮点共同构成了一个功能完整、体验流畅的校园二手交易平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项目也存在一些不足。比如目前还没有编写单元测试，也没有实现图片聊天和推送通知。这些都是我们未来计划改进的方向。我们还考虑了未来的技术栈迁移方案，比如在用户量增大后，将后端迁移到自建服务器，或者使用uni-app实现跨平台部署。我们相信，这个项目有很好的扩展潜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我的汇报到此结束，感谢各位老师和同学的聆听。如果大家有任何问题，欢迎随时提出，我很乐意与大家交流。谢谢！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2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.jpe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9.svg"/><Relationship Id="rId9" Type="http://schemas.openxmlformats.org/officeDocument/2006/relationships/image" Target="../media/image2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.jpe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svg"/><Relationship Id="rId5" Type="http://schemas.openxmlformats.org/officeDocument/2006/relationships/image" Target="../media/image39.svg"/><Relationship Id="rId4" Type="http://schemas.openxmlformats.org/officeDocument/2006/relationships/image" Target="../media/image26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2.jpeg"/><Relationship Id="rId7" Type="http://schemas.openxmlformats.org/officeDocument/2006/relationships/image" Target="../media/image4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svg"/><Relationship Id="rId5" Type="http://schemas.openxmlformats.org/officeDocument/2006/relationships/image" Target="../media/image42.svg"/><Relationship Id="rId4" Type="http://schemas.openxmlformats.org/officeDocument/2006/relationships/image" Target="../media/image4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5" Type="http://schemas.openxmlformats.org/officeDocument/2006/relationships/image" Target="../media/image5.svg"/><Relationship Id="rId4" Type="http://schemas.openxmlformats.org/officeDocument/2006/relationships/image" Target="../media/image28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2.jpeg"/><Relationship Id="rId7" Type="http://schemas.openxmlformats.org/officeDocument/2006/relationships/image" Target="../media/image49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svg"/><Relationship Id="rId5" Type="http://schemas.openxmlformats.org/officeDocument/2006/relationships/image" Target="../media/image32.svg"/><Relationship Id="rId10" Type="http://schemas.openxmlformats.org/officeDocument/2006/relationships/image" Target="../media/image50.svg"/><Relationship Id="rId4" Type="http://schemas.openxmlformats.org/officeDocument/2006/relationships/image" Target="../media/image47.svg"/><Relationship Id="rId9" Type="http://schemas.openxmlformats.org/officeDocument/2006/relationships/image" Target="../media/image4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校园二手交易小程序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175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—— 基于微信云开发的移动UI应用设计 ——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286000" y="4572000"/>
            <a:ext cx="7620000" cy="1651000"/>
          </a:xfrm>
          <a:prstGeom prst="roundRect">
            <a:avLst>
              <a:gd name="adj" fmla="val 9230"/>
            </a:avLst>
          </a:prstGeom>
          <a:solidFill>
            <a:srgbClr val="7C3AED">
              <a:alpha val="85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2286000" y="4826000"/>
            <a:ext cx="762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课程：移动UI应用开发</a:t>
            </a:r>
            <a:endParaRPr lang="en-US" sz="1100" dirty="0"/>
          </a:p>
          <a:p>
            <a:pPr indent="0" algn="ctr">
              <a:lnSpc>
                <a:spcPct val="116666"/>
              </a:lnSpc>
            </a:pPr>
            <a:r>
              <a:rPr lang="en-US" sz="1600" b="0" i="0" u="none" strike="noStrike" dirty="0" err="1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</a:t>
            </a:r>
            <a:r>
              <a:rPr lang="en-US" sz="1600" b="0" i="0" u="none" strike="noStrike" dirty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600" dirty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李建霖</a:t>
            </a:r>
            <a:r>
              <a:rPr lang="en-US" sz="1600" b="0" i="0" u="none" strike="noStrike" dirty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600" dirty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202310011858</a:t>
            </a:r>
            <a:r>
              <a:rPr lang="en-US" sz="1600" b="0" i="0" u="none" strike="noStrike" dirty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zh-CN" altLang="en-US" sz="1600" dirty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软件工程四班</a:t>
            </a:r>
            <a:endParaRPr lang="en-US" sz="1600" b="0" i="0" u="none" strike="noStrike" dirty="0">
              <a:solidFill>
                <a:srgbClr val="FFFFFF">
                  <a:alpha val="94902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16666"/>
              </a:lnSpc>
            </a:pPr>
            <a:r>
              <a:rPr lang="en-US" sz="14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项目背景与选题意义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为什么做校园二手交易？—— 洞察痛点，抓住机会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4191000"/>
          </a:xfrm>
          <a:prstGeom prst="roundRect">
            <a:avLst>
              <a:gd name="adj" fmla="val 363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01 / 现存痛点 Pain Points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175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3111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闲置物品堆积，处理困难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大学生拥有大量教材、电子产品、生活用品等闲置，弃之可惜，留之占地，缺乏高效的处理渠道。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191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4127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传统渠道信息混乱，体验差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依赖QQ群、微信群等方式，信息刷屏快，无法分类检索，筛选和管理商品的效率极低。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207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5143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交易无担保，缺乏信任基础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陌生人之间的线下交易缺乏第三方评价与担保体系，容易产生售后纠纷，存在财产与人身安全隐患。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223000" y="2032000"/>
            <a:ext cx="5207000" cy="4191000"/>
          </a:xfrm>
          <a:prstGeom prst="roundRect">
            <a:avLst>
              <a:gd name="adj" fmla="val 363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477000" y="2286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/ 破局机会 Opportunities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3175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12000" y="3111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微信小程序：即开即用的校园神器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无需下载安装，触手可及。完美适配校园场景下的高频、碎片化交易需求，用户门槛极低。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191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12000" y="4127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云开发技术：低成本快速落地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无需自行搭建和运维服务器，节省开发成本与精力，非常适合作为课程实践项目快速实现并上线。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5207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5143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校园场景：高粘性的天然流量池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校园内人群高度集中、需求统一，口碑传播速度快，极易通过线下地推完成冷启动和用户积累。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功能全景图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DE9F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95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032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用户系统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身份认证 · 角色管理 · 权限分配</a:t>
            </a:r>
          </a:p>
        </p:txBody>
      </p:sp>
      <p:sp>
        <p:nvSpPr>
          <p:cNvPr id="7" name="AutoShape 7"/>
          <p:cNvSpPr/>
          <p:nvPr/>
        </p:nvSpPr>
        <p:spPr>
          <a:xfrm>
            <a:off x="4445000" y="1778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DE9F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095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461000" y="2032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商品浏览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智能推荐 · 分类检索 · 图文详情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128000" y="1778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DE9F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0955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9144000" y="2032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商品管理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一键发布 · 状态修改 · 上下架管理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3556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DE9F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8735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778000" y="3810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即时通讯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在线沟通 · 消息通知 · 交易协商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445000" y="3556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DE9F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99000" y="38735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461000" y="3810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个人中心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我的收藏 · 交易记录 · 个人信息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128000" y="3556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DE9F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82000" y="38735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144000" y="3810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系统基础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安全风控 · 数据统计 · 意见反馈</a:t>
            </a:r>
          </a:p>
        </p:txBody>
      </p:sp>
      <p:sp>
        <p:nvSpPr>
          <p:cNvPr id="22" name="AutoShape 22"/>
          <p:cNvSpPr/>
          <p:nvPr/>
        </p:nvSpPr>
        <p:spPr>
          <a:xfrm>
            <a:off x="762000" y="5334000"/>
            <a:ext cx="5334000" cy="1143000"/>
          </a:xfrm>
          <a:prstGeom prst="roundRect">
            <a:avLst>
              <a:gd name="adj" fmla="val 13333"/>
            </a:avLst>
          </a:prstGeom>
          <a:solidFill>
            <a:srgbClr val="7C3A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52500" y="55245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👤 买家核心流程：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浏览商品 → 搜索筛选 → 查看详情 → 收藏/联系卖家 → 线下交易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096000" y="5334000"/>
            <a:ext cx="5334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7C3AE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286500" y="55245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📢 卖家核心流程：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登录/注册 → 发布商品 → 管理商品 → 回复买家消息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技术选型与系统架构解析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4903" b="4903"/>
          <a:stretch>
            <a:fillRect/>
          </a:stretch>
        </p:blipFill>
        <p:spPr>
          <a:xfrm>
            <a:off x="762000" y="2032000"/>
            <a:ext cx="4318000" cy="4318000"/>
          </a:xfrm>
          <a:prstGeom prst="roundRect">
            <a:avLst>
              <a:gd name="adj" fmla="val 3750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5588000" y="2032000"/>
            <a:ext cx="584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2000" y="22860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350000" y="22606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42000" y="2641600"/>
            <a:ext cx="533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前端：</a:t>
            </a:r>
            <a:r>
              <a:rPr lang="en-US" sz="1300" b="0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微信小程序原生开发</a:t>
            </a:r>
            <a:r>
              <a:rPr lang="en-US" sz="13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(WXML + WXSS + JS)，</a:t>
            </a:r>
            <a:r>
              <a:rPr lang="en-US" sz="1300" b="0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轻量高效</a:t>
            </a:r>
            <a:r>
              <a:rPr lang="en-US" sz="13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sz="1400" b="1" i="0" u="none" strike="noStrik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后端：</a:t>
            </a:r>
            <a:r>
              <a:rPr lang="en-US" sz="1300" b="0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微信云开发</a:t>
            </a:r>
            <a:r>
              <a:rPr lang="en-US" sz="13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1300" b="0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CloudBase</a:t>
            </a:r>
            <a:r>
              <a:rPr lang="en-US" sz="13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)，</a:t>
            </a:r>
            <a:r>
              <a:rPr lang="en-US" sz="1300" b="0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集成云函数、云数据库与云存储能力</a:t>
            </a:r>
            <a:r>
              <a:rPr lang="en-US" sz="13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588000" y="4191000"/>
            <a:ext cx="584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42000" y="4445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350000" y="44196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为什么这样选？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842000" y="4889500"/>
            <a:ext cx="533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极致性能：</a:t>
            </a:r>
            <a:r>
              <a:rPr lang="en-US" sz="1300" b="0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原生开发无第三方包依赖，体积小、加载速度快，保障流畅体验</a:t>
            </a:r>
            <a:r>
              <a:rPr lang="en-US" sz="13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3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快速落地：</a:t>
            </a:r>
            <a:r>
              <a:rPr lang="en-US" sz="1300" b="0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云开发免去服务器运维，开箱即用，适配课程项目的快速迭代需求</a:t>
            </a:r>
            <a:r>
              <a:rPr lang="en-US" sz="13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3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安全可靠：</a:t>
            </a:r>
            <a:r>
              <a:rPr lang="en-US" sz="1300" b="0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自带鉴权机制，有效保障数据安全与访问合规</a:t>
            </a:r>
            <a:r>
              <a:rPr lang="en-US" sz="13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页面路由设计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14个功能页面 + 标准化底部 Tab 导航体系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11732" r="11732"/>
          <a:stretch>
            <a:fillRect/>
          </a:stretch>
        </p:blipFill>
        <p:spPr>
          <a:xfrm>
            <a:off x="668595" y="2158999"/>
            <a:ext cx="5300404" cy="3975303"/>
          </a:xfrm>
          <a:prstGeom prst="rect">
            <a:avLst/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6223000" y="19685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BE8F5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413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7239000" y="209550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底部核心导航</a:t>
            </a:r>
            <a:r>
              <a:rPr lang="en-US" sz="1600" b="1" i="0" u="none" strike="noStrik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(Tab Bar)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🏠 </a:t>
            </a: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首页</a:t>
            </a: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| 📂 </a:t>
            </a: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分类</a:t>
            </a: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| ➕ </a:t>
            </a: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发布</a:t>
            </a: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| 👤 </a:t>
            </a: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我的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聚焦核心功能，将高频操作前置，减少用户认知负荷</a:t>
            </a:r>
            <a:endParaRPr lang="en-US" sz="1200" b="0" i="0" u="none" strike="noStrike" dirty="0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352425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BE8F5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396875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239000" y="365125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丰富的二级功能页面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    </a:t>
            </a: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商品场景：详情页</a:t>
            </a: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搜索页</a:t>
            </a: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分类列表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    </a:t>
            </a: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个人场景：我的发布</a:t>
            </a: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收藏</a:t>
            </a: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浏览历史</a:t>
            </a: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资料</a:t>
            </a: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设置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    </a:t>
            </a: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互动场景：聊天对话</a:t>
            </a: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消息列表</a:t>
            </a:r>
            <a:endParaRPr lang="en-US" sz="1200" b="0" i="0" u="none" strike="noStrike" dirty="0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23000" y="5080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BE8F5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5524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239000" y="520700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体验与交互规范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    </a:t>
            </a: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底部导航项严格控制在</a:t>
            </a: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5 </a:t>
            </a: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项以内，符合移动端设计规范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    </a:t>
            </a: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所有页面均支持</a:t>
            </a: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Deep </a:t>
            </a: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Link，便于社交分享与跳转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</a:t>
            </a: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返回逻辑清晰统一，符合用户直觉预期，防止迷路</a:t>
            </a:r>
            <a:endParaRPr lang="en-US" sz="1200" b="0" i="0" u="none" strike="noStrike" dirty="0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数据库集合关系与核心设计规范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07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76200" cy="1778000"/>
          </a:xfrm>
          <a:prstGeom prst="roundRect">
            <a:avLst>
              <a:gd name="adj" fmla="val 0"/>
            </a:avLst>
          </a:prstGeom>
          <a:solidFill>
            <a:srgbClr val="7C3A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1400" y="2095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74800" y="2057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users (用户集合)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41400" y="2667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核心字段：openid、昵称、头像、实名认证状态、联系方式(加密)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安全策略：严格限制，仅本人可读/写，防止信息泄露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1905000"/>
            <a:ext cx="5207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223000" y="1905000"/>
            <a:ext cx="76200" cy="1778000"/>
          </a:xfrm>
          <a:prstGeom prst="roundRect">
            <a:avLst>
              <a:gd name="adj" fmla="val 0"/>
            </a:avLst>
          </a:prstGeom>
          <a:solidFill>
            <a:srgbClr val="7C3A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02400" y="2095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035800" y="2057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goods (商品集合)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02400" y="2667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核心字段：标题、价格、多张图片、分类、发布者ID、地理位置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安全策略：数据公开可见，仅创建者拥有修改/删除权限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3937000"/>
            <a:ext cx="5207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62000" y="3937000"/>
            <a:ext cx="76200" cy="1778000"/>
          </a:xfrm>
          <a:prstGeom prst="roundRect">
            <a:avLst>
              <a:gd name="adj" fmla="val 0"/>
            </a:avLst>
          </a:prstGeom>
          <a:solidFill>
            <a:srgbClr val="7C3A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1400" y="4127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74800" y="4089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collections (收藏集合)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41400" y="4699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核心字段：关联用户ID、关联商品ID、收藏时间戳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安全策略：私密数据，仅收藏者本人可见与管理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223000" y="3937000"/>
            <a:ext cx="5207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223000" y="3937000"/>
            <a:ext cx="76200" cy="1778000"/>
          </a:xfrm>
          <a:prstGeom prst="roundRect">
            <a:avLst>
              <a:gd name="adj" fmla="val 0"/>
            </a:avLst>
          </a:prstGeom>
          <a:solidFill>
            <a:srgbClr val="7C3A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2400" y="41275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035800" y="4089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messages (消息集合)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502400" y="4699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核心字段：发送者ID、接收者ID、消息内容、时间、状态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安全策略：仅交易双方（发送/接收者）可见，隔离第三方</a:t>
            </a:r>
          </a:p>
        </p:txBody>
      </p:sp>
      <p:sp>
        <p:nvSpPr>
          <p:cNvPr id="25" name="AutoShape 25"/>
          <p:cNvSpPr/>
          <p:nvPr/>
        </p:nvSpPr>
        <p:spPr>
          <a:xfrm>
            <a:off x="762000" y="5905500"/>
            <a:ext cx="5207000" cy="762000"/>
          </a:xfrm>
          <a:prstGeom prst="roundRect">
            <a:avLst>
              <a:gd name="adj" fmla="val 20000"/>
            </a:avLst>
          </a:prstGeom>
          <a:solidFill>
            <a:srgbClr val="F3E8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60579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397000" y="6007100"/>
            <a:ext cx="43815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敏感数据脱敏：</a:t>
            </a: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手机号/学号等敏感信息仅在后端处理，前端不暴露。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23000" y="5905500"/>
            <a:ext cx="5207000" cy="762000"/>
          </a:xfrm>
          <a:prstGeom prst="roundRect">
            <a:avLst>
              <a:gd name="adj" fmla="val 20000"/>
            </a:avLst>
          </a:prstGeom>
          <a:solidFill>
            <a:srgbClr val="F3E8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3500" y="60579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6858000" y="6007100"/>
            <a:ext cx="43815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权限中心化控制：</a:t>
            </a: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所有数据操作权限均在云函数层校验，规避前端漏洞风险。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云函数设计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BFF 模式的 6 个云函数架构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413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3876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核心函数：getUserInfo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241行代码 · 11个业务 Action 聚合</a:t>
            </a:r>
          </a:p>
        </p:txBody>
      </p:sp>
      <p:sp>
        <p:nvSpPr>
          <p:cNvPr id="8" name="AutoShape 8"/>
          <p:cNvSpPr/>
          <p:nvPr/>
        </p:nvSpPr>
        <p:spPr>
          <a:xfrm>
            <a:off x="1016000" y="3302000"/>
            <a:ext cx="279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spcBef>
                <a:spcPts val="800"/>
              </a:spcBef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💡 设计思路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采用 BFF (Backend for Frontend) 模式，将与用户相关的多个高频接口逻辑，内聚在单一函数中，减少碎片化管理。</a:t>
            </a:r>
          </a:p>
          <a:p>
            <a:pPr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🛠️ 实现方式</a:t>
            </a: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通过传入不同的</a:t>
            </a: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action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参数 (如 get, register, toggleCollection) 动态路由到不同的处理分支。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445000" y="2159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413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07000" y="2413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架构合并的核心收益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2952750"/>
            <a:ext cx="2794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spcBef>
                <a:spcPts val="400"/>
              </a:spcBef>
              <a:defRPr/>
            </a:pPr>
            <a:r>
              <a:rPr lang="en-US" sz="1300" b="1" i="0" u="none" strike="noStrike" dirty="0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⚡ </a:t>
            </a:r>
            <a:r>
              <a:rPr lang="en-US" sz="1300" b="1" i="0" u="none" strike="noStrike" dirty="0" err="1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极致性能优化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显著减少云函数的冷启动频次，接口平均响应速度提升约30%。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1" i="0" u="none" strike="noStrike" dirty="0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📦 </a:t>
            </a:r>
            <a:r>
              <a:rPr lang="en-US" sz="1300" b="1" i="0" u="none" strike="noStrike" dirty="0" err="1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业务逻辑内聚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将分散的用户业务逻辑收拢，避免“</a:t>
            </a: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文件爆炸</a:t>
            </a: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便于后续统一迭代与维护</a:t>
            </a: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1" i="0" u="none" strike="noStrike" dirty="0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🔗 </a:t>
            </a:r>
            <a:r>
              <a:rPr lang="en-US" sz="1300" b="1" i="0" u="none" strike="noStrike" dirty="0" err="1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前端调用简化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前端只需维护一个接口地址，通过参数即可区分操作，降低对接与调试成本</a:t>
            </a: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128000" y="2159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413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90000" y="2413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5 个业务功能云函数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3175000"/>
            <a:ext cx="2794000" cy="508000"/>
          </a:xfrm>
          <a:prstGeom prst="roundRect">
            <a:avLst>
              <a:gd name="adj" fmla="val 1500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509000" y="32766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📋 商品列表 ｜ getGoodsList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3873500"/>
            <a:ext cx="2794000" cy="508000"/>
          </a:xfrm>
          <a:prstGeom prst="roundRect">
            <a:avLst>
              <a:gd name="adj" fmla="val 1500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509000" y="39751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🔍 商品详情 ｜ getGoodsDetail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82000" y="4572000"/>
            <a:ext cx="2794000" cy="508000"/>
          </a:xfrm>
          <a:prstGeom prst="roundRect">
            <a:avLst>
              <a:gd name="adj" fmla="val 1500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509000" y="46736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📝 发布与更新 ｜ publish/updateGoods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382000" y="5270500"/>
            <a:ext cx="2794000" cy="508000"/>
          </a:xfrm>
          <a:prstGeom prst="roundRect">
            <a:avLst>
              <a:gd name="adj" fmla="val 1500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509000" y="53721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🔎 全局搜索 ｜ searchGoods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UI设计体系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设计系统 — Token 驱动的视觉一致性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3302000" cy="50800"/>
          </a:xfrm>
          <a:prstGeom prst="roundRect">
            <a:avLst>
              <a:gd name="adj" fmla="val 0"/>
            </a:avLst>
          </a:prstGeom>
          <a:solidFill>
            <a:srgbClr val="7C3A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4638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74800" y="2438400"/>
            <a:ext cx="215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01 / 设计风格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984500"/>
            <a:ext cx="279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3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结合</a:t>
            </a:r>
            <a:r>
              <a:rPr lang="en-US" sz="1300" b="1" i="0" u="none" strike="noStrike" dirty="0" err="1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Marketplace</a:t>
            </a:r>
            <a:r>
              <a:rPr lang="en-US" sz="1300" b="1" i="0" u="none" strike="noStrike" dirty="0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 P2P</a:t>
            </a:r>
            <a:r>
              <a:rPr lang="en-US" sz="13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模式特点，融合现代扁平化设计（Flat </a:t>
            </a:r>
            <a:r>
              <a:rPr lang="en-US" sz="13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Design）与当下流行的</a:t>
            </a:r>
            <a:r>
              <a:rPr lang="en-US" sz="13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Bento Grids </a:t>
            </a:r>
            <a:r>
              <a:rPr lang="en-US" sz="13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布局风格</a:t>
            </a:r>
            <a:r>
              <a:rPr lang="en-US" sz="13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 indent="0" algn="l">
              <a:lnSpc>
                <a:spcPct val="133333"/>
              </a:lnSpc>
              <a:spcBef>
                <a:spcPts val="1200"/>
              </a:spcBef>
            </a:pPr>
            <a:r>
              <a:rPr lang="en-US" sz="13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旨在打造兼具专业度与亲和力的界面，让信息层级分明，操作路径清晰，给用户流畅、现代的视觉体验</a:t>
            </a:r>
            <a:r>
              <a:rPr lang="en-US" sz="13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445000" y="2159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445000" y="2159000"/>
            <a:ext cx="3302000" cy="50800"/>
          </a:xfrm>
          <a:prstGeom prst="roundRect">
            <a:avLst>
              <a:gd name="adj" fmla="val 0"/>
            </a:avLst>
          </a:prstGeom>
          <a:solidFill>
            <a:srgbClr val="16A3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4638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57800" y="2438400"/>
            <a:ext cx="215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02 / 色彩系统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3302000"/>
            <a:ext cx="279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主色 (#7C3AED):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传递信任与创新的品牌基调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强调色 (#16A34A):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用于突出成交状态与关键行动点</a:t>
            </a: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文字色 (#1E293B):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符合 WCAG 对比度标准，确保高可读性</a:t>
            </a: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背景色 (#FAF5FF):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暖紫色调，营造舒适、专业的视觉氛围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128000" y="2159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128000" y="2159000"/>
            <a:ext cx="3302000" cy="508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4638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940800" y="2438400"/>
            <a:ext cx="215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03 / 工程化实现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82000" y="3302000"/>
            <a:ext cx="279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定义并维护了</a:t>
            </a:r>
            <a:r>
              <a:rPr lang="en-US" sz="16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33个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 CSS 设计 Token，涵盖颜色、字体、间距、圆角等所有基础视觉属性。</a:t>
            </a:r>
            <a:endParaRPr lang="en-US" sz="1100"/>
          </a:p>
          <a:p>
            <a:pPr indent="0" algn="l">
              <a:lnSpc>
                <a:spcPct val="133333"/>
              </a:lnSpc>
              <a:spcBef>
                <a:spcPts val="1600"/>
              </a:spcBef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实现了真正的</a:t>
            </a:r>
            <a:r>
              <a:rPr lang="en-US" sz="13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“一处修改，全局生效”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，极大降低维护成本，保证14+页面视觉风格高度统一，开发效率提升显著。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首页UI设计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477000" y="2032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首页 — 瀑布流商品展示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0" y="2794000"/>
            <a:ext cx="1524000" cy="1397000"/>
          </a:xfrm>
          <a:prstGeom prst="roundRect">
            <a:avLst>
              <a:gd name="adj" fmla="val 7272"/>
            </a:avLst>
          </a:prstGeom>
          <a:solidFill>
            <a:srgbClr val="F5F3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29464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85000" y="2921000"/>
            <a:ext cx="88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胶囊搜索栏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50rpx全圆角，视觉焦点突出，易于点击。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064500" y="2794000"/>
            <a:ext cx="1524000" cy="1397000"/>
          </a:xfrm>
          <a:prstGeom prst="roundRect">
            <a:avLst>
              <a:gd name="adj" fmla="val 7272"/>
            </a:avLst>
          </a:prstGeom>
          <a:solidFill>
            <a:srgbClr val="F5F3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91500" y="29464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8572500" y="2921000"/>
            <a:ext cx="88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横向分类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支持横向滚动，方便用户快速筛选不同品类。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9652000" y="2794000"/>
            <a:ext cx="1524000" cy="1397000"/>
          </a:xfrm>
          <a:prstGeom prst="roundRect">
            <a:avLst>
              <a:gd name="adj" fmla="val 7272"/>
            </a:avLst>
          </a:prstGeom>
          <a:solidFill>
            <a:srgbClr val="F5F3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79000" y="29464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0160000" y="2921000"/>
            <a:ext cx="88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双列瀑布流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统一1:1图片比例，避免布局抖动(CLS)。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477000" y="4445000"/>
            <a:ext cx="2311400" cy="1397000"/>
          </a:xfrm>
          <a:prstGeom prst="roundRect">
            <a:avLst>
              <a:gd name="adj" fmla="val 7272"/>
            </a:avLst>
          </a:prstGeom>
          <a:solidFill>
            <a:srgbClr val="F5F3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45974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48500" y="4572000"/>
            <a:ext cx="165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清晰信息层级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大号粗体突出显示价格，弱化原价，引导转化。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890000" y="4445000"/>
            <a:ext cx="2286000" cy="1397000"/>
          </a:xfrm>
          <a:prstGeom prst="roundRect">
            <a:avLst>
              <a:gd name="adj" fmla="val 7272"/>
            </a:avLst>
          </a:prstGeom>
          <a:solidFill>
            <a:srgbClr val="F5F3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17000" y="45974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461500" y="4572000"/>
            <a:ext cx="165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流畅加载体验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骨架屏占位，支持下拉刷新与上拉加载，优化等待感。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商品发布与详情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1575" r="1575"/>
          <a:stretch>
            <a:fillRect/>
          </a:stretch>
        </p:blipFill>
        <p:spPr>
          <a:xfrm>
            <a:off x="1016000" y="2159000"/>
            <a:ext cx="1651000" cy="3048000"/>
          </a:xfrm>
          <a:prstGeom prst="rect">
            <a:avLst/>
          </a:prstGeom>
          <a:noFill/>
          <a:ln w="12700" cap="flat" cmpd="sng">
            <a:solidFill>
              <a:srgbClr val="F1F5F9">
                <a:alpha val="100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2921000" y="21590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发布页设计亮点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921000" y="2921000"/>
            <a:ext cx="2667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📸 多图上传：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支持1-9张图批量上传，提供点击放大预览功能。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✅ 表单校验：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失焦即时校验字段，错误信息直观显示在下方。</a:t>
            </a:r>
          </a:p>
          <a:p>
            <a:pPr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⚡ 体验优化：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价格输入框自动唤起数字键盘，大幅提升录入效率。</a:t>
            </a:r>
          </a:p>
          <a:p>
            <a:pPr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♻️ 页面复用：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新建与编辑功能复用同一页面，减少开发维护成本。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 t="7774" b="7774"/>
          <a:stretch>
            <a:fillRect/>
          </a:stretch>
        </p:blipFill>
        <p:spPr>
          <a:xfrm>
            <a:off x="6477000" y="2159000"/>
            <a:ext cx="1651000" cy="3048000"/>
          </a:xfrm>
          <a:prstGeom prst="rect">
            <a:avLst/>
          </a:prstGeom>
          <a:noFill/>
          <a:ln w="12700" cap="flat" cmpd="sng">
            <a:solidFill>
              <a:srgbClr val="F1F5F9">
                <a:alpha val="100000"/>
              </a:srgbClr>
            </a:solidFill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8382000" y="21590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详情页设计亮点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382000" y="2921000"/>
            <a:ext cx="2667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🖼️ 图片轮播：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集成Swiper组件实现流畅滑动，优化大图浏览体验。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🃏 信息卡片：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结构化展示成色、分类、地点等关键信息，清晰易读。</a:t>
            </a:r>
          </a:p>
          <a:p>
            <a:pPr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👤 卖家信息：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突出头像、昵称与认证状态，帮助买家建立交易信任。</a:t>
            </a:r>
          </a:p>
          <a:p>
            <a:pPr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🖱️ 底部操作：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收藏按钮增加防抖处理，“联系卖家”作为主CTA按钮。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个人中心与聊天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5598" r="5598"/>
          <a:stretch>
            <a:fillRect/>
          </a:stretch>
        </p:blipFill>
        <p:spPr>
          <a:xfrm>
            <a:off x="1016000" y="2159000"/>
            <a:ext cx="1778000" cy="3556000"/>
          </a:xfrm>
          <a:prstGeom prst="roundRect">
            <a:avLst>
              <a:gd name="adj" fmla="val 5714"/>
            </a:avLst>
          </a:prstGeom>
          <a:noFill/>
          <a:ln w="12700" cap="flat" cmpd="sng">
            <a:solidFill>
              <a:srgbClr val="F1F5F9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3048000" y="21590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个人中心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048000" y="2921000"/>
            <a:ext cx="2667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1" i="0" u="none" strike="noStrik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原生组件：</a:t>
            </a: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头像上传和昵称修改均使用微信原生组件，体验更流畅</a:t>
            </a: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1" i="0" u="none" strike="noStrik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数据统计：</a:t>
            </a: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直观展示用户的发布数、收藏数和浏览数，清晰透明</a:t>
            </a: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1" i="0" u="none" strike="noStrik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功能菜单：</a:t>
            </a: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分类清晰罗列核心功能入口，降低用户操作门槛</a:t>
            </a: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1" i="0" u="none" strike="noStrik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状态管理：</a:t>
            </a: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贴心设计了未登录状态引导界面，降低流失率</a:t>
            </a: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 l="35177" r="35177"/>
          <a:stretch>
            <a:fillRect/>
          </a:stretch>
        </p:blipFill>
        <p:spPr>
          <a:xfrm>
            <a:off x="6477000" y="2159000"/>
            <a:ext cx="1778000" cy="3556000"/>
          </a:xfrm>
          <a:prstGeom prst="roundRect">
            <a:avLst>
              <a:gd name="adj" fmla="val 5714"/>
            </a:avLst>
          </a:prstGeom>
          <a:noFill/>
          <a:ln w="12700" cap="flat" cmpd="sng">
            <a:solidFill>
              <a:srgbClr val="F1F5F9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0" name="AutoShape 10"/>
          <p:cNvSpPr/>
          <p:nvPr/>
        </p:nvSpPr>
        <p:spPr>
          <a:xfrm>
            <a:off x="8509000" y="21590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在线聊天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509000" y="2921000"/>
            <a:ext cx="2667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1" i="0" u="none" strike="noStrik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消息气泡：</a:t>
            </a: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左右布局区分自己和对方消息，视觉清晰，层级分明</a:t>
            </a: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1" i="0" u="none" strike="noStrik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商品关联：</a:t>
            </a: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聊天支持发送商品卡片，点击卡片可直接跳转详情页</a:t>
            </a: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1" i="0" u="none" strike="noStrik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实时性：</a:t>
            </a: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采用乐观更新策略，消息发送后立即显示，提升实时感</a:t>
            </a: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1" i="0" u="none" strike="noStrik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防骚扰：</a:t>
            </a:r>
            <a:r>
              <a:rPr lang="en-US" sz="12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在云函数层增加校验逻辑，防止用户给自己发送消息</a:t>
            </a:r>
            <a:r>
              <a:rPr lang="en-US" sz="12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组件化与代码复用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006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公共组件库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2794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3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🛠️ 6个高复用基础组件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goods-card：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商品卡片 (双布局) | 7页面复用</a:t>
            </a: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search-bar：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搜索栏 (带防抖) | 3页面复用</a:t>
            </a: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image-upload：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多图上传 + 实时预览</a:t>
            </a: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empty-state：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业务空状态统一占位符</a:t>
            </a: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skeleton：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骨架屏，优化首屏加载体验</a:t>
            </a: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toast：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全局统一轻提示组件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032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2006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核心工具模块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794000"/>
            <a:ext cx="2794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3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🧰 4大核心模块封装</a:t>
            </a:r>
            <a:endParaRPr lang="en-US" sz="1100"/>
          </a:p>
          <a:p>
            <a:pPr indent="0" algn="l">
              <a:lnSpc>
                <a:spcPct val="133333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📡</a:t>
            </a: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api.js：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统一管理并封装15个后端接口请求，统一异常处理逻辑。</a:t>
            </a:r>
          </a:p>
          <a:p>
            <a:pPr indent="0" algn="l">
              <a:lnSpc>
                <a:spcPct val="133333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🔧</a:t>
            </a: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util.js：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沉淀12个高频通用工具函数，覆盖时间、格式转换等场景。</a:t>
            </a:r>
          </a:p>
          <a:p>
            <a:pPr indent="0" algn="l">
              <a:lnSpc>
                <a:spcPct val="133333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✅</a:t>
            </a: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validator.js：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集中管理表单校验规则，减少业务逻辑中的重复判断。</a:t>
            </a:r>
          </a:p>
          <a:p>
            <a:pPr indent="0" algn="l">
              <a:lnSpc>
                <a:spcPct val="133333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💾</a:t>
            </a: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storage.js：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统一封装本地缓存存取方法，保证数据安全与一致性。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28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032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890000" y="2006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工程化收益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2921000"/>
            <a:ext cx="2794000" cy="1397000"/>
          </a:xfrm>
          <a:prstGeom prst="roundRect">
            <a:avLst>
              <a:gd name="adj" fmla="val 7272"/>
            </a:avLst>
          </a:prstGeom>
          <a:solidFill>
            <a:srgbClr val="F5F3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509000" y="31115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~4,500</a:t>
            </a:r>
            <a:r>
              <a:rPr lang="en-US" sz="14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行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JS / WXML / WXSS 代码总量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382000" y="4572000"/>
            <a:ext cx="2794000" cy="1397000"/>
          </a:xfrm>
          <a:prstGeom prst="roundRect">
            <a:avLst>
              <a:gd name="adj" fmla="val 7272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509000" y="47625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&gt; 40%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组件化带来的重复代码减少率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遇到的挑战与解决方案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19812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9304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微信新登录策略调整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65200" y="2540000"/>
            <a:ext cx="29718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挑战：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getUserProfile 接口返回默认匿名信息，无法获取用户信息。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改用微信原生 chooseAvatar 和 type="nickname" 组件，完美适配隐私保护新政策。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406900" y="1778000"/>
            <a:ext cx="33782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10100" y="19812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041900" y="19304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TabBar 页面传参失效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10100" y="2540000"/>
            <a:ext cx="29718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挑战：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navigateTo 无法直接向 TabBar 页面传递参数，导致关键的编辑功能无法正常使用。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 globalData 临时存储商品ID，在目标页的 onShow 生命周期中读取并加载数据。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051800" y="1778000"/>
            <a:ext cx="33782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19812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686800" y="19304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商品卡片价格未渲染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55000" y="2540000"/>
            <a:ext cx="29718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挑战：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特定逻辑条件下，商品卡片的价格字段未显示，影响用户浏览体验。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重构卡片的 WXML 结构与 WXSS 样式，为价格字段分配了更高优先级的独立样式类。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4318000"/>
            <a:ext cx="52451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5200" y="4572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473200" y="4546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云函数部署后调用失败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65200" y="5207000"/>
            <a:ext cx="48387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挑战：部署后调用云函数时，系统持续提示“FUNCTION_NOT_FOUND”错误。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排查发现是环境未初始化，在项目根目录的 app.json 中补充了 "cloud": true 配置，确保环境正确加载。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4318000"/>
            <a:ext cx="52451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26200" y="45720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34200" y="4546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业务逻辑漏洞修复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26200" y="5207000"/>
            <a:ext cx="48387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挑战：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未做权限校验，用户可通过接口给自己发送消息，造成数据冗余与逻辑异常。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在云函数层增加身份校验逻辑，严格比对发送者与接收者ID，过滤非法请求。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项目亮点总结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2476500" cy="4064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2900" y="2209800"/>
            <a:ext cx="762000" cy="762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3175000"/>
            <a:ext cx="222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UI工程化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937000"/>
            <a:ext cx="2095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💡 实现：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33个CSS设计Token，实现全局视觉风格统一管理。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✨ 价值：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一处修改全局生效，极大降低维护成本并提升开发效率。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3492500" y="1905000"/>
            <a:ext cx="2476500" cy="4064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3400" y="2209800"/>
            <a:ext cx="762000" cy="762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619500" y="3175000"/>
            <a:ext cx="222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安全设计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83000" y="3937000"/>
            <a:ext cx="2095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💡 实现：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采用云函数BFF模式，前端不直连数据库；敏感字段在云端自动抹除。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✨ 价值：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构建多层级防护体系，全方位保障系统安全和用户隐私。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223000" y="1905000"/>
            <a:ext cx="2476500" cy="4064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73900" y="2209800"/>
            <a:ext cx="762000" cy="762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350000" y="3175000"/>
            <a:ext cx="222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组件化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13500" y="3937000"/>
            <a:ext cx="2095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💡 实现：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封装6个高复用度公共组件，其中核心的`goods-card`组件被7个不同页面调用。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✨ 价值：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减少重复代码量40%以上，显著提升代码的可维护性和质量。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953500" y="1905000"/>
            <a:ext cx="2476500" cy="4064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04400" y="2209800"/>
            <a:ext cx="762000" cy="762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080500" y="3175000"/>
            <a:ext cx="222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规范遵循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144000" y="3937000"/>
            <a:ext cx="2095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💡 实现：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严格遵循Apple HIG与Material Design设计规范，满足WCAG对比度标准。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✨ 价值：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打造专业、直观易用且符合无障碍标准的用户体验。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不足与展望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▍ 后续改进方向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203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000" y="2603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25654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代码质量保障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1750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当前：无单元测试</a:t>
            </a:r>
            <a:b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计划：引入 Jest/Mocha 框架，建立自动化测试体系。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048000" y="2413000"/>
            <a:ext cx="203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75000" y="2603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556000" y="25654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富媒体消息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175000" y="31750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当前：纯文本聊天</a:t>
            </a:r>
            <a:b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计划：完善功能，支持图片、表情包及语音消息发送。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334000" y="2413000"/>
            <a:ext cx="203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1000" y="2603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842000" y="25654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即时推送通知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461000" y="31750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当前：无系统提醒</a:t>
            </a:r>
            <a:b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计划：接入微信订阅消息，实现交易状态变更实时提醒。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0" y="2413000"/>
            <a:ext cx="203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47000" y="2603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128000" y="25654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线上支付闭环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747000" y="31750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当前：仅预留模块</a:t>
            </a:r>
            <a:b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计划：正式对接微信支付，实现全流程线上担保交易。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779000" y="2413000"/>
            <a:ext cx="203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06000" y="2603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0287000" y="25654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身份认证升级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906000" y="31750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当前：依赖学号字段</a:t>
            </a:r>
            <a:b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计划：探索对接学校统一认证系统，提升平台安全性。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4699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▍ 技术栈迁移考量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5334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651500"/>
            <a:ext cx="508000" cy="508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1778000" y="5524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后端架构升级：从“Serverless”到“自建服务”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当前采用云开发快速迭代，当用户量显著增长时，计划迁移至自建后端服务，以获取更高的性能与灵活性。</a:t>
            </a:r>
          </a:p>
        </p:txBody>
      </p:sp>
      <p:sp>
        <p:nvSpPr>
          <p:cNvPr id="29" name="AutoShape 29"/>
          <p:cNvSpPr/>
          <p:nvPr/>
        </p:nvSpPr>
        <p:spPr>
          <a:xfrm>
            <a:off x="6350000" y="5334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5651500"/>
            <a:ext cx="508000" cy="5080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366000" y="5524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跨端能力扩展：支持多端部署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若需支持独立APP或适配更广泛的H5场景，可考虑重构迁移至 uni-app 等成熟跨端框架，实现“一套代码，多端运行”。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794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0" y="5334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1718</Words>
  <Application>Microsoft Office PowerPoint</Application>
  <PresentationFormat>宽屏</PresentationFormat>
  <Paragraphs>244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Silas Lee</cp:lastModifiedBy>
  <cp:revision>21</cp:revision>
  <dcterms:modified xsi:type="dcterms:W3CDTF">2026-05-16T15:14:52Z</dcterms:modified>
</cp:coreProperties>
</file>